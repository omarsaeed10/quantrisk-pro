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289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Helvetica"/>
              </a:defRPr>
            </a:pPr>
            <a:r>
              <a:t>QuantRisk Enterprise™: Risk Intelligence</a:t>
            </a:r>
          </a:p>
          <a:p>
            <a:pPr>
              <a:spcBef>
                <a:spcPts val="1000"/>
              </a:spcBef>
              <a:defRPr sz="2000">
                <a:solidFill>
                  <a:srgbClr val="2563EB"/>
                </a:solidFill>
                <a:latin typeface="Helvetica"/>
              </a:defRPr>
            </a:pPr>
            <a:r>
              <a:t>Institutional Empirical Continuous Risk &amp; Basel III/IV Statistical Modeling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4114800"/>
            <a:ext cx="10362895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297680"/>
            <a:ext cx="1036289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CBD5E1"/>
                </a:solidFill>
              </a:defRPr>
            </a:pPr>
            <a:r>
              <a:t>Topic: Continuous Random Variables  |  Audit Standard: Basel III/IV VaR &amp; Expected Shortfall  |  Dataset: S&amp;P 500 (N = 1,258 Days)</a:t>
            </a:r>
          </a:p>
          <a:p>
            <a:pPr>
              <a:spcBef>
                <a:spcPts val="800"/>
              </a:spcBef>
              <a:defRPr sz="1300" b="1">
                <a:solidFill>
                  <a:srgbClr val="2563EB"/>
                </a:solidFill>
              </a:defRPr>
            </a:pPr>
            <a:r>
              <a:t>Lead Quantitative Architect &amp; Author: Omar Saeed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Helvetica"/>
              </a:defRPr>
            </a:pPr>
            <a:r>
              <a:t>QUANTRISK ENTERPRISE™ RISK INTELLIGENCE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3A8A"/>
                </a:solidFill>
                <a:latin typeface="Helvetica"/>
              </a:defRPr>
            </a:pPr>
            <a:r>
              <a:t>Executive Summary &amp; Project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332073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2966313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1. Continuous RV Modeling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• Daily return X = R_t = (P_t - P_{t-1})/P_{t-1} modeled on continuous support X ∈ (-1, +∞).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• Defined via Probability Density Function (PDF) f(x) and Cumulative Distribution Function (CDF) F(x).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• Analyzes 5 years of daily market pricing data (N = 1,258 trading days).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29353" y="1554480"/>
            <a:ext cx="3332073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2233" y="1737360"/>
            <a:ext cx="2966313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2. Empirical Market Moments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• Mean Return (μ): +0.0543% daily expected growth.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• Daily Volatility (σ): 0.7980% standard deviation.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• Negative Skewness (γ₁ = -0.5237): Left-tailed crash probability.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• Excess Kurtosis (γ₂ = +2.5985): Severe leptokurtic fat tails.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27187" y="1554480"/>
            <a:ext cx="3332073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10067" y="1737360"/>
            <a:ext cx="2966313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3. Normality Rejection &amp; Risk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• Formal Rejection: Jarque-Bera (p = 4.53×10⁻⁹⁰) &amp; Shapiro-Wilk (p = 7.00×10⁻¹⁷) reject Normal H₀.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• 99% VaR Gap: Normal model understates extreme 1-day losses by +0.41% extra loss.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• Best Fit: Student's t-Distribution outperforms Normal, Laplace, and Logistic models.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Helvetica"/>
              </a:defRPr>
            </a:pPr>
            <a:r>
              <a:t>QUANTRISK ENTERPRISE™ RISK INTELLIGENCE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3A8A"/>
                </a:solidFill>
                <a:latin typeface="Helvetica"/>
              </a:defRPr>
            </a:pPr>
            <a:r>
              <a:t>Theoretical Foundations &amp; Statistical Formulas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10728655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1036289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defRPr sz="1300" b="1">
                <a:solidFill>
                  <a:srgbClr val="1E3A8A"/>
                </a:solidFill>
              </a:defRPr>
            </a:pPr>
            <a:r>
              <a:t>1. Expected Value (First Moment μ):</a:t>
            </a:r>
          </a:p>
          <a:p>
            <a:pPr>
              <a:spcBef>
                <a:spcPts val="200"/>
              </a:spcBef>
              <a:defRPr sz="1150">
                <a:solidFill>
                  <a:srgbClr val="1E293B"/>
                </a:solidFill>
                <a:latin typeface="Courier"/>
              </a:defRPr>
            </a:pPr>
            <a:r>
              <a:t>      μ = E[X] = ∫ x f(x) dx ≈ (1/N) ∑ x_i   — Measure of central location.</a:t>
            </a:r>
          </a:p>
          <a:p>
            <a:pPr>
              <a:spcBef>
                <a:spcPts val="800"/>
              </a:spcBef>
              <a:defRPr sz="1300" b="1">
                <a:solidFill>
                  <a:srgbClr val="1E3A8A"/>
                </a:solidFill>
              </a:defRPr>
            </a:pPr>
            <a:r>
              <a:t>2. Variance (Second Central Moment σ²) &amp; Volatility (σ):</a:t>
            </a:r>
          </a:p>
          <a:p>
            <a:pPr>
              <a:spcBef>
                <a:spcPts val="200"/>
              </a:spcBef>
              <a:defRPr sz="1150">
                <a:solidFill>
                  <a:srgbClr val="1E293B"/>
                </a:solidFill>
                <a:latin typeface="Courier"/>
              </a:defRPr>
            </a:pPr>
            <a:r>
              <a:t>      σ² = E[(X-μ)²] = (1/(N-1)) ∑ (x_i - μ)²,   σ = √σ²   — Measure of return dispersion.</a:t>
            </a:r>
          </a:p>
          <a:p>
            <a:pPr>
              <a:spcBef>
                <a:spcPts val="800"/>
              </a:spcBef>
              <a:defRPr sz="1300" b="1">
                <a:solidFill>
                  <a:srgbClr val="1E3A8A"/>
                </a:solidFill>
              </a:defRPr>
            </a:pPr>
            <a:r>
              <a:t>3. Skewness (Third Standardized Moment γ₁):</a:t>
            </a:r>
          </a:p>
          <a:p>
            <a:pPr>
              <a:spcBef>
                <a:spcPts val="200"/>
              </a:spcBef>
              <a:defRPr sz="1150">
                <a:solidFill>
                  <a:srgbClr val="1E293B"/>
                </a:solidFill>
                <a:latin typeface="Courier"/>
              </a:defRPr>
            </a:pPr>
            <a:r>
              <a:t>      γ₁ = E[((X-μ)/σ)³] = (1/N ∑ (x_i-μ)³) / σ³   — Normal target = 0. γ₁ &lt; 0 indicates negative crash tail.</a:t>
            </a:r>
          </a:p>
          <a:p>
            <a:pPr>
              <a:spcBef>
                <a:spcPts val="800"/>
              </a:spcBef>
              <a:defRPr sz="1300" b="1">
                <a:solidFill>
                  <a:srgbClr val="1E3A8A"/>
                </a:solidFill>
              </a:defRPr>
            </a:pPr>
            <a:r>
              <a:t>4. Excess Kurtosis (Fourth Standardized Moment γ₂):</a:t>
            </a:r>
          </a:p>
          <a:p>
            <a:pPr>
              <a:spcBef>
                <a:spcPts val="200"/>
              </a:spcBef>
              <a:defRPr sz="1150">
                <a:solidFill>
                  <a:srgbClr val="1E293B"/>
                </a:solidFill>
                <a:latin typeface="Courier"/>
              </a:defRPr>
            </a:pPr>
            <a:r>
              <a:t>      γ₂ = E[((X-μ)/σ)⁴] - 3 = (1/N ∑ (x_i-μ)⁴) / σ⁴ - 3   — Normal target = 0. γ₂ &gt; 0 indicates Leptokurtosis (fat tails).</a:t>
            </a:r>
          </a:p>
          <a:p>
            <a:pPr>
              <a:spcBef>
                <a:spcPts val="800"/>
              </a:spcBef>
              <a:defRPr sz="1300" b="1">
                <a:solidFill>
                  <a:srgbClr val="1E3A8A"/>
                </a:solidFill>
              </a:defRPr>
            </a:pPr>
            <a:r>
              <a:t>5. Inferential Statistics &amp; 95% Confidence Intervals:</a:t>
            </a:r>
          </a:p>
          <a:p>
            <a:pPr>
              <a:spcBef>
                <a:spcPts val="200"/>
              </a:spcBef>
              <a:defRPr sz="1150">
                <a:solidFill>
                  <a:srgbClr val="1E293B"/>
                </a:solidFill>
                <a:latin typeface="Courier"/>
              </a:defRPr>
            </a:pPr>
            <a:r>
              <a:t>      SE(X̄) = s / √N,   95% CI Mean: X̄ ± 1.96·SE,   95% CI Variance: (N-1)s² / χ²_{α/2} &lt; σ² &lt; (N-1)s² / χ²_{1-α/2}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Helvetica"/>
              </a:defRPr>
            </a:pPr>
            <a:r>
              <a:t>QUANTRISK ENTERPRISE™ RISK INTELLIGENCE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3A8A"/>
                </a:solidFill>
                <a:latin typeface="Helvetica"/>
              </a:defRPr>
            </a:pPr>
            <a:r>
              <a:t>Empirical Statistical Summary (N = 1,258 Days)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1998878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1815998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64748B"/>
                </a:solidFill>
              </a:defRPr>
            </a:pPr>
            <a:r>
              <a:t>SAMPLE SIZE (N)</a:t>
            </a:r>
          </a:p>
          <a:p>
            <a:pPr>
              <a:spcBef>
                <a:spcPts val="200"/>
              </a:spcBef>
              <a:defRPr sz="1800" b="1">
                <a:solidFill>
                  <a:srgbClr val="1E3A8A"/>
                </a:solidFill>
              </a:defRPr>
            </a:pPr>
            <a:r>
              <a:t>1,258</a:t>
            </a:r>
          </a:p>
          <a:p>
            <a:pPr>
              <a:spcBef>
                <a:spcPts val="200"/>
              </a:spcBef>
              <a:defRPr sz="900">
                <a:solidFill>
                  <a:srgbClr val="64748B"/>
                </a:solidFill>
              </a:defRPr>
            </a:pPr>
            <a:r>
              <a:t>Trading Days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13278" y="1554480"/>
            <a:ext cx="1998878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04718" y="1600200"/>
            <a:ext cx="1815998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64748B"/>
                </a:solidFill>
              </a:defRPr>
            </a:pPr>
            <a:r>
              <a:t>MEAN RETURN (μ)</a:t>
            </a:r>
          </a:p>
          <a:p>
            <a:pPr>
              <a:spcBef>
                <a:spcPts val="200"/>
              </a:spcBef>
              <a:defRPr sz="1800" b="1">
                <a:solidFill>
                  <a:srgbClr val="2563EB"/>
                </a:solidFill>
              </a:defRPr>
            </a:pPr>
            <a:r>
              <a:t>+0.0543%</a:t>
            </a:r>
          </a:p>
          <a:p>
            <a:pPr>
              <a:spcBef>
                <a:spcPts val="200"/>
              </a:spcBef>
              <a:defRPr sz="900">
                <a:solidFill>
                  <a:srgbClr val="64748B"/>
                </a:solidFill>
              </a:defRPr>
            </a:pPr>
            <a:r>
              <a:t>Daily Expected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95036" y="1554480"/>
            <a:ext cx="1998878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86476" y="1600200"/>
            <a:ext cx="1815998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64748B"/>
                </a:solidFill>
              </a:defRPr>
            </a:pPr>
            <a:r>
              <a:t>VOLATILITY (σ)</a:t>
            </a:r>
          </a:p>
          <a:p>
            <a:pPr>
              <a:spcBef>
                <a:spcPts val="200"/>
              </a:spcBef>
              <a:defRPr sz="1800" b="1">
                <a:solidFill>
                  <a:srgbClr val="2563EB"/>
                </a:solidFill>
              </a:defRPr>
            </a:pPr>
            <a:r>
              <a:t>0.7980%</a:t>
            </a:r>
          </a:p>
          <a:p>
            <a:pPr>
              <a:spcBef>
                <a:spcPts val="200"/>
              </a:spcBef>
              <a:defRPr sz="900">
                <a:solidFill>
                  <a:srgbClr val="64748B"/>
                </a:solidFill>
              </a:defRPr>
            </a:pPr>
            <a:r>
              <a:t>Daily Std Dev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76795" y="1554480"/>
            <a:ext cx="1998878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68235" y="1600200"/>
            <a:ext cx="1815998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64748B"/>
                </a:solidFill>
              </a:defRPr>
            </a:pPr>
            <a:r>
              <a:t>SKEWNESS (γ₁)</a:t>
            </a:r>
          </a:p>
          <a:p>
            <a:pPr>
              <a:spcBef>
                <a:spcPts val="200"/>
              </a:spcBef>
              <a:defRPr sz="1800" b="1">
                <a:solidFill>
                  <a:srgbClr val="DC2626"/>
                </a:solidFill>
              </a:defRPr>
            </a:pPr>
            <a:r>
              <a:t>-0.5237</a:t>
            </a:r>
          </a:p>
          <a:p>
            <a:pPr>
              <a:spcBef>
                <a:spcPts val="200"/>
              </a:spcBef>
              <a:defRPr sz="900">
                <a:solidFill>
                  <a:srgbClr val="64748B"/>
                </a:solidFill>
              </a:defRPr>
            </a:pPr>
            <a:r>
              <a:t>Left Crash Tail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458553" y="1554480"/>
            <a:ext cx="1998878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49993" y="1600200"/>
            <a:ext cx="1815998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64748B"/>
                </a:solidFill>
              </a:defRPr>
            </a:pPr>
            <a:r>
              <a:t>EXCESS KURTOSIS (γ₂)</a:t>
            </a:r>
          </a:p>
          <a:p>
            <a:pPr>
              <a:spcBef>
                <a:spcPts val="200"/>
              </a:spcBef>
              <a:defRPr sz="1800" b="1">
                <a:solidFill>
                  <a:srgbClr val="DC2626"/>
                </a:solidFill>
              </a:defRPr>
            </a:pPr>
            <a:r>
              <a:t>+2.5985</a:t>
            </a:r>
          </a:p>
          <a:p>
            <a:pPr>
              <a:spcBef>
                <a:spcPts val="200"/>
              </a:spcBef>
              <a:defRPr sz="900">
                <a:solidFill>
                  <a:srgbClr val="64748B"/>
                </a:solidFill>
              </a:defRPr>
            </a:pPr>
            <a:r>
              <a:t>Leptokurtic Tails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731520" y="2926080"/>
          <a:ext cx="10728655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645920"/>
                <a:gridCol w="1828800"/>
                <a:gridCol w="2011680"/>
                <a:gridCol w="3230575"/>
              </a:tblGrid>
              <a:tr h="483325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Statistical Metric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Symbol / Formula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Empirical Value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Normal Benchmark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Financial Interpretation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483325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293B"/>
                          </a:solidFill>
                        </a:defRPr>
                      </a:pPr>
                      <a:r>
                        <a:t>Variance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σ²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293B"/>
                          </a:solidFill>
                        </a:defRPr>
                      </a:pPr>
                      <a:r>
                        <a:t>0.00006369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Measure of daily return dispersion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3325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293B"/>
                          </a:solidFill>
                        </a:defRPr>
                      </a:pPr>
                      <a:r>
                        <a:t>Minimum Return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X_min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293B"/>
                          </a:solidFill>
                        </a:defRPr>
                      </a:pPr>
                      <a:r>
                        <a:t>-4.13%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Symmetric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Maximum 1-day market decline in 5 years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83325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293B"/>
                          </a:solidFill>
                        </a:defRPr>
                      </a:pPr>
                      <a:r>
                        <a:t>Maximum Return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X_max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293B"/>
                          </a:solidFill>
                        </a:defRPr>
                      </a:pPr>
                      <a:r>
                        <a:t>+3.24%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Symmetric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Maximum 1-day market gain in 5 years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3325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293B"/>
                          </a:solidFill>
                        </a:defRPr>
                      </a:pPr>
                      <a:r>
                        <a:t>Median Return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X̃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293B"/>
                          </a:solidFill>
                        </a:defRPr>
                      </a:pPr>
                      <a:r>
                        <a:t>+0.0797%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≈ μ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50th percentile of market returns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83325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293B"/>
                          </a:solidFill>
                        </a:defRPr>
                      </a:pPr>
                      <a:r>
                        <a:t>Standard Error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SE(X̄)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293B"/>
                          </a:solidFill>
                        </a:defRPr>
                      </a:pPr>
                      <a:r>
                        <a:t>0.0225%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Precision of sample mean estimate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333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293B"/>
                          </a:solidFill>
                        </a:defRPr>
                      </a:pPr>
                      <a:r>
                        <a:t>95% CI for Mean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μ ∈ [L, U]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293B"/>
                          </a:solidFill>
                        </a:defRPr>
                      </a:pPr>
                      <a:r>
                        <a:t>[+0.0102%, +0.0984%]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True population mean return boundary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Helvetica"/>
              </a:defRPr>
            </a:pPr>
            <a:r>
              <a:t>QUANTRISK ENTERPRISE™ RISK INTELLIGENCE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3A8A"/>
                </a:solidFill>
                <a:latin typeface="Helvetica"/>
              </a:defRPr>
            </a:pPr>
            <a:r>
              <a:t>Inferential Statistics &amp; 95% Confidence Intervals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8099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481523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95% Z-Confidence Interval for Mean (μ)</a:t>
            </a:r>
          </a:p>
          <a:p>
            <a:pPr>
              <a:spcBef>
                <a:spcPts val="800"/>
              </a:spcBef>
              <a:defRPr sz="1200" b="1">
                <a:solidFill>
                  <a:srgbClr val="2563EB"/>
                </a:solidFill>
                <a:latin typeface="Courier"/>
              </a:defRPr>
            </a:pPr>
            <a:r>
              <a:t>Formula: X̄ ± 1.96 · (s / √N)</a:t>
            </a:r>
          </a:p>
          <a:p>
            <a:pPr>
              <a:spcBef>
                <a:spcPts val="600"/>
              </a:spcBef>
              <a:defRPr sz="1150">
                <a:solidFill>
                  <a:srgbClr val="1E293B"/>
                </a:solidFill>
              </a:defRPr>
            </a:pPr>
            <a:r>
              <a:t>• Sample Mean (X̄): +0.0543% (0.000543)</a:t>
            </a:r>
          </a:p>
          <a:p>
            <a:pPr>
              <a:spcBef>
                <a:spcPts val="600"/>
              </a:spcBef>
              <a:defRPr sz="1150">
                <a:solidFill>
                  <a:srgbClr val="1E293B"/>
                </a:solidFill>
              </a:defRPr>
            </a:pPr>
            <a:r>
              <a:t>• Standard Error (SE): 0.0225% (0.000225)</a:t>
            </a:r>
          </a:p>
          <a:p>
            <a:pPr>
              <a:spcBef>
                <a:spcPts val="600"/>
              </a:spcBef>
              <a:defRPr sz="1150">
                <a:solidFill>
                  <a:srgbClr val="1E293B"/>
                </a:solidFill>
              </a:defRPr>
            </a:pPr>
            <a:r>
              <a:t>• Lower Boundary (95%): +0.0102% daily</a:t>
            </a:r>
          </a:p>
          <a:p>
            <a:pPr>
              <a:spcBef>
                <a:spcPts val="600"/>
              </a:spcBef>
              <a:defRPr sz="1150">
                <a:solidFill>
                  <a:srgbClr val="1E293B"/>
                </a:solidFill>
              </a:defRPr>
            </a:pPr>
            <a:r>
              <a:t>• Upper Boundary (95%): +0.0984% daily</a:t>
            </a:r>
          </a:p>
          <a:p>
            <a:pPr>
              <a:spcBef>
                <a:spcPts val="600"/>
              </a:spcBef>
              <a:defRPr sz="1150">
                <a:solidFill>
                  <a:srgbClr val="1E293B"/>
                </a:solidFill>
              </a:defRPr>
            </a:pPr>
            <a:r>
              <a:t>• Conclusion: We are 95% confident that the true population expected daily return lies strictly in [+0.0102%, +0.0984%], confirming positive expected market drift.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78270" y="1554480"/>
            <a:ext cx="518099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61150" y="1737360"/>
            <a:ext cx="481523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95% χ² Confidence Interval for Variance (σ²)</a:t>
            </a:r>
          </a:p>
          <a:p>
            <a:pPr>
              <a:spcBef>
                <a:spcPts val="800"/>
              </a:spcBef>
              <a:defRPr sz="1200" b="1">
                <a:solidFill>
                  <a:srgbClr val="2563EB"/>
                </a:solidFill>
                <a:latin typeface="Courier"/>
              </a:defRPr>
            </a:pPr>
            <a:r>
              <a:t>Formula: (N-1)s² / χ²_{α/2} &lt; σ² &lt; (N-1)s² / χ²_{1-α/2}</a:t>
            </a:r>
          </a:p>
          <a:p>
            <a:pPr>
              <a:spcBef>
                <a:spcPts val="600"/>
              </a:spcBef>
              <a:defRPr sz="1150">
                <a:solidFill>
                  <a:srgbClr val="1E293B"/>
                </a:solidFill>
              </a:defRPr>
            </a:pPr>
            <a:r>
              <a:t>• Sample Variance (s²): 0.00006369</a:t>
            </a:r>
          </a:p>
          <a:p>
            <a:pPr>
              <a:spcBef>
                <a:spcPts val="600"/>
              </a:spcBef>
              <a:defRPr sz="1150">
                <a:solidFill>
                  <a:srgbClr val="1E293B"/>
                </a:solidFill>
              </a:defRPr>
            </a:pPr>
            <a:r>
              <a:t>• Degrees of Freedom (df = N-1): 1,257</a:t>
            </a:r>
          </a:p>
          <a:p>
            <a:pPr>
              <a:spcBef>
                <a:spcPts val="600"/>
              </a:spcBef>
              <a:defRPr sz="1150">
                <a:solidFill>
                  <a:srgbClr val="1E293B"/>
                </a:solidFill>
              </a:defRPr>
            </a:pPr>
            <a:r>
              <a:t>• Lower Boundary (95%): 0.0000592 (σ = 0.769%)</a:t>
            </a:r>
          </a:p>
          <a:p>
            <a:pPr>
              <a:spcBef>
                <a:spcPts val="600"/>
              </a:spcBef>
              <a:defRPr sz="1150">
                <a:solidFill>
                  <a:srgbClr val="1E293B"/>
                </a:solidFill>
              </a:defRPr>
            </a:pPr>
            <a:r>
              <a:t>• Upper Boundary (95%): 0.0000687 (σ = 0.829%)</a:t>
            </a:r>
          </a:p>
          <a:p>
            <a:pPr>
              <a:spcBef>
                <a:spcPts val="600"/>
              </a:spcBef>
              <a:defRPr sz="1150">
                <a:solidFill>
                  <a:srgbClr val="1E293B"/>
                </a:solidFill>
              </a:defRPr>
            </a:pPr>
            <a:r>
              <a:t>• Conclusion: Provides exact Chi-Square bounds for population market variance, confirming stable volatility parameter estimation over the 5-year sample.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Helvetica"/>
              </a:defRPr>
            </a:pPr>
            <a:r>
              <a:t>QUANTRISK ENTERPRISE™ RISK INTELLIGENCE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3A8A"/>
                </a:solidFill>
                <a:latin typeface="Helvetica"/>
              </a:defRPr>
            </a:pPr>
            <a:r>
              <a:t>Normality Diagnostics &amp; Gaussian Rejection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10728655" cy="109728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DC2626"/>
                </a:solidFill>
              </a:defRPr>
            </a:pPr>
            <a:r>
              <a:t>VERDICT: STATISTICAL GAUSSIAN NORMALITY IS DECISIVELY REJECTED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</a:defRPr>
            </a:pPr>
            <a:r>
              <a:t>Both Jarque-Bera and Shapiro-Wilk formal hypothesis tests reject H0 at any significance level (p &lt; 10^-16), proving that stock market daily returns violate Gaussian assumptions.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2926080"/>
          <a:ext cx="10728655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200400"/>
                <a:gridCol w="1645920"/>
                <a:gridCol w="2011680"/>
                <a:gridCol w="1858975"/>
              </a:tblGrid>
              <a:tr h="6705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Hypothesis Test</a:t>
                      </a:r>
                    </a:p>
                  </a:txBody>
                  <a:tcPr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Test Statistic Formula</a:t>
                      </a:r>
                    </a:p>
                  </a:txBody>
                  <a:tcPr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Empirical Value</a:t>
                      </a:r>
                    </a:p>
                  </a:txBody>
                  <a:tcPr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p-Value</a:t>
                      </a:r>
                    </a:p>
                  </a:txBody>
                  <a:tcPr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Decision (alpha = 0.05)</a:t>
                      </a:r>
                    </a:p>
                  </a:txBody>
                  <a:tcPr>
                    <a:solidFill>
                      <a:srgbClr val="DC2626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</a:defRPr>
                      </a:pPr>
                      <a:r>
                        <a:t>Jarque-Bera Test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JB = (N/6) * [ γ1² + (γ2²/4) 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</a:defRPr>
                      </a:pPr>
                      <a:r>
                        <a:t>411.44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DC2626"/>
                          </a:solidFill>
                        </a:defRPr>
                      </a:pPr>
                      <a:r>
                        <a:t>4.53 x 10^-90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DC2626"/>
                          </a:solidFill>
                        </a:defRPr>
                      </a:pPr>
                      <a:r>
                        <a:t>REJECT H0 (Non-Normal)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</a:defRPr>
                      </a:pPr>
                      <a:r>
                        <a:t>Shapiro-Wilk Test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W = (∑ a_i x_{(i)})² / ∑ (x_i - x̄)²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</a:defRPr>
                      </a:pPr>
                      <a:r>
                        <a:t>0.9649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DC2626"/>
                          </a:solidFill>
                        </a:defRPr>
                      </a:pPr>
                      <a:r>
                        <a:t>7.00 x 10^-17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DC2626"/>
                          </a:solidFill>
                        </a:defRPr>
                      </a:pPr>
                      <a:r>
                        <a:t>REJECT H0 (Non-Normal)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Helvetica"/>
              </a:defRPr>
            </a:pPr>
            <a:r>
              <a:t>QUANTRISK ENTERPRISE™ RISK INTELLIGENCE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3A8A"/>
                </a:solidFill>
                <a:latin typeface="Helvetica"/>
              </a:defRPr>
            </a:pPr>
            <a:r>
              <a:t>Diagnostic Plot 1: Histogram &amp; PDF Density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1_histogram_dens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54480"/>
            <a:ext cx="5943600" cy="47548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949440" y="1554480"/>
            <a:ext cx="4510735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0" y="1737360"/>
            <a:ext cx="414497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Key Analytical Observations</a:t>
            </a:r>
          </a:p>
          <a:p>
            <a:pPr>
              <a:spcBef>
                <a:spcPts val="1000"/>
              </a:spcBef>
              <a:defRPr sz="1150">
                <a:solidFill>
                  <a:srgbClr val="1E293B"/>
                </a:solidFill>
              </a:defRPr>
            </a:pPr>
            <a:r>
              <a:t>• Sharp Central Peak: Higher empirical probability density near μ = +0.0543% than predicted by Gaussian curve.</a:t>
            </a:r>
          </a:p>
          <a:p>
            <a:pPr>
              <a:spcBef>
                <a:spcPts val="1000"/>
              </a:spcBef>
              <a:defRPr sz="1150">
                <a:solidFill>
                  <a:srgbClr val="1E293B"/>
                </a:solidFill>
              </a:defRPr>
            </a:pPr>
            <a:r>
              <a:t>• Leptokurtic Excess: Excess Kurtosis γ₂ = +2.5985 results in a tall, narrow center.</a:t>
            </a:r>
          </a:p>
          <a:p>
            <a:pPr>
              <a:spcBef>
                <a:spcPts val="1000"/>
              </a:spcBef>
              <a:defRPr sz="1150">
                <a:solidFill>
                  <a:srgbClr val="1E293B"/>
                </a:solidFill>
              </a:defRPr>
            </a:pPr>
            <a:r>
              <a:t>• Fat Tails: High frequency of extreme daily moves (&gt; ±2σ) compared to standard normal bell curve.</a:t>
            </a:r>
          </a:p>
          <a:p>
            <a:pPr>
              <a:spcBef>
                <a:spcPts val="1000"/>
              </a:spcBef>
              <a:defRPr sz="1150">
                <a:solidFill>
                  <a:srgbClr val="1E293B"/>
                </a:solidFill>
              </a:defRPr>
            </a:pPr>
            <a:r>
              <a:t>• Conclusion: Standard Normal PDF fails to fit both the high center peak and heavy exterior tails.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Helvetica"/>
              </a:defRPr>
            </a:pPr>
            <a:r>
              <a:t>QUANTRISK ENTERPRISE™ RISK INTELLIGENCE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3A8A"/>
                </a:solidFill>
                <a:latin typeface="Helvetica"/>
              </a:defRPr>
            </a:pPr>
            <a:r>
              <a:t>Diagnostic Plot 2: Quantile-Quantile (Q-Q) Plot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2_qq_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54480"/>
            <a:ext cx="5943600" cy="47548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949440" y="1554480"/>
            <a:ext cx="4510735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0" y="1737360"/>
            <a:ext cx="414497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Quantile Departure Analysis</a:t>
            </a:r>
          </a:p>
          <a:p>
            <a:pPr>
              <a:spcBef>
                <a:spcPts val="1000"/>
              </a:spcBef>
              <a:defRPr sz="1150">
                <a:solidFill>
                  <a:srgbClr val="1E293B"/>
                </a:solidFill>
              </a:defRPr>
            </a:pPr>
            <a:r>
              <a:t>• S-Shape Departure: Quantile points deviate systematically from the theoretical red 45° reference line.</a:t>
            </a:r>
          </a:p>
          <a:p>
            <a:pPr>
              <a:spcBef>
                <a:spcPts val="1000"/>
              </a:spcBef>
              <a:defRPr sz="1150">
                <a:solidFill>
                  <a:srgbClr val="1E293B"/>
                </a:solidFill>
              </a:defRPr>
            </a:pPr>
            <a:r>
              <a:t>• Heavy Left Tail: Negative quantiles curve downwards, proving extreme losses occur far more frequently than normal theory predicts.</a:t>
            </a:r>
          </a:p>
          <a:p>
            <a:pPr>
              <a:spcBef>
                <a:spcPts val="1000"/>
              </a:spcBef>
              <a:defRPr sz="1150">
                <a:solidFill>
                  <a:srgbClr val="1E293B"/>
                </a:solidFill>
              </a:defRPr>
            </a:pPr>
            <a:r>
              <a:t>• Heavy Right Tail: Positive extreme returns curve upwards beyond theoretical normal quantiles.</a:t>
            </a:r>
          </a:p>
          <a:p>
            <a:pPr>
              <a:spcBef>
                <a:spcPts val="1000"/>
              </a:spcBef>
              <a:defRPr sz="1150">
                <a:solidFill>
                  <a:srgbClr val="1E293B"/>
                </a:solidFill>
              </a:defRPr>
            </a:pPr>
            <a:r>
              <a:t>• Diagnostic Proof: Classic non-linear S-curve signature of heavy-tailed, leptokurtic distribution.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Helvetica"/>
              </a:defRPr>
            </a:pPr>
            <a:r>
              <a:t>QUANTRISK ENTERPRISE™ RISK INTELLIGENCE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3A8A"/>
                </a:solidFill>
                <a:latin typeface="Helvetica"/>
              </a:defRPr>
            </a:pPr>
            <a:r>
              <a:t>Financial Risk Management: Value at Risk (VaR)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10728655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1036289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Value at Risk (VaR) Gap Analysis: Empirical vs Normal Model</a:t>
            </a:r>
          </a:p>
          <a:p>
            <a:pPr>
              <a:spcBef>
                <a:spcPts val="400"/>
              </a:spcBef>
              <a:defRPr sz="1200">
                <a:solidFill>
                  <a:srgbClr val="64748B"/>
                </a:solidFill>
              </a:defRPr>
            </a:pPr>
            <a:r>
              <a:t>VaR measures maximum expected portfolio loss over a 1-day horizon at confidence level 1-α.</a:t>
            </a:r>
          </a:p>
          <a:p>
            <a:pPr>
              <a:spcBef>
                <a:spcPts val="12500"/>
              </a:spcBef>
              <a:defRPr sz="1200" b="1">
                <a:solidFill>
                  <a:srgbClr val="DC2626"/>
                </a:solidFill>
              </a:defRPr>
            </a:pPr>
            <a:r>
              <a:t>CRITICAL RISK IMPLICATION: Assuming Gaussian normality at 99% confidence understates portfolio risk by 22.8%, exposing financial institutions to unhedged tail losses.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914400" y="2468880"/>
          <a:ext cx="10362895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560320"/>
                <a:gridCol w="2560320"/>
                <a:gridCol w="2956255"/>
              </a:tblGrid>
              <a:tr h="6096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Confidence Level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Historical Empirical VaR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Theoretical Normal VaR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Risk Underestimation Gap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E293B"/>
                          </a:solidFill>
                        </a:defRPr>
                      </a:pPr>
                      <a:r>
                        <a:t>95% 1-Day VaR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E293B"/>
                          </a:solidFill>
                        </a:defRPr>
                      </a:pPr>
                      <a:r>
                        <a:t>-1.28%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E293B"/>
                          </a:solidFill>
                        </a:defRPr>
                      </a:pPr>
                      <a:r>
                        <a:t>-1.26%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E293B"/>
                          </a:solidFill>
                        </a:defRPr>
                      </a:pPr>
                      <a:r>
                        <a:t>+0.02% Extra Loss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E293B"/>
                          </a:solidFill>
                        </a:defRPr>
                      </a:pPr>
                      <a:r>
                        <a:t>99% 1-Day VaR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E293B"/>
                          </a:solidFill>
                        </a:defRPr>
                      </a:pPr>
                      <a:r>
                        <a:t>-2.21%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E293B"/>
                          </a:solidFill>
                        </a:defRPr>
                      </a:pPr>
                      <a:r>
                        <a:t>-1.80%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DC2626"/>
                          </a:solidFill>
                        </a:defRPr>
                      </a:pPr>
                      <a:r>
                        <a:t>+0.41% Extra Loss (+22.8% Risk Gap)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D97706"/>
                </a:solidFill>
              </a:defRPr>
            </a:pPr>
            <a:r>
              <a:t>STRESS TESTING &amp; EXTREME TAIL EVENTS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Black Swan Crises Stress Simulator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554480"/>
          <a:ext cx="10728655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1280160"/>
                <a:gridCol w="1188720"/>
                <a:gridCol w="1188720"/>
                <a:gridCol w="3139135"/>
                <a:gridCol w="1828800"/>
              </a:tblGrid>
              <a:tr h="73152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0000"/>
                          </a:solidFill>
                        </a:defRPr>
                      </a:pPr>
                      <a:r>
                        <a:t>Historic Crash Event</a:t>
                      </a:r>
                    </a:p>
                  </a:txBody>
                  <a:tcPr>
                    <a:solidFill>
                      <a:srgbClr val="D9770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0000"/>
                          </a:solidFill>
                        </a:defRPr>
                      </a:pPr>
                      <a:r>
                        <a:t>Date</a:t>
                      </a:r>
                    </a:p>
                  </a:txBody>
                  <a:tcPr>
                    <a:solidFill>
                      <a:srgbClr val="D9770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0000"/>
                          </a:solidFill>
                        </a:defRPr>
                      </a:pPr>
                      <a:r>
                        <a:t>1-Day Drop</a:t>
                      </a:r>
                    </a:p>
                  </a:txBody>
                  <a:tcPr>
                    <a:solidFill>
                      <a:srgbClr val="D9770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0000"/>
                          </a:solidFill>
                        </a:defRPr>
                      </a:pPr>
                      <a:r>
                        <a:t>Z-Score</a:t>
                      </a:r>
                    </a:p>
                  </a:txBody>
                  <a:tcPr>
                    <a:solidFill>
                      <a:srgbClr val="D9770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0000"/>
                          </a:solidFill>
                        </a:defRPr>
                      </a:pPr>
                      <a:r>
                        <a:t>Gaussian Predicted Frequency</a:t>
                      </a:r>
                    </a:p>
                  </a:txBody>
                  <a:tcPr>
                    <a:solidFill>
                      <a:srgbClr val="D9770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0000"/>
                          </a:solidFill>
                        </a:defRPr>
                      </a:pPr>
                      <a:r>
                        <a:t>Empirical Status</a:t>
                      </a:r>
                    </a:p>
                  </a:txBody>
                  <a:tcPr>
                    <a:solidFill>
                      <a:srgbClr val="D97706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1987 Black Monday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Oct 19, 1987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-20.47%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Z = -25.72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1 in 10^145 Universes (Impossible under Normal)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Realized Historic Fact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2008 Lehman Brothers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Sep 29, 2008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-8.81%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Z = -11.11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1 in 1.4 Billion Years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Realized Historic Fact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2020 COVID Flash Crash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Mar 16, 2020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-11.98%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Z = -15.08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1 in 10^31 Years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Realized Historic Fact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31520" y="4754880"/>
            <a:ext cx="10728655" cy="16459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846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D97706"/>
                </a:solidFill>
              </a:defRPr>
            </a:pPr>
            <a:r>
              <a:t>Key Black Swan Stress Finding:</a:t>
            </a:r>
          </a:p>
          <a:p>
            <a:pPr>
              <a:spcBef>
                <a:spcPts val="400"/>
              </a:spcBef>
              <a:defRPr sz="1150">
                <a:solidFill>
                  <a:srgbClr val="E2E8F0"/>
                </a:solidFill>
              </a:defRPr>
            </a:pPr>
            <a:r>
              <a:t>Under Gaussian assumptions, 1-day drops of -8% to -20% have probabilities of 1 in 10^31 to 10^145 years — practically impossible. Yet, they occur multiple times per century in real markets. This proves that continuous financial returns require fat-tailed distribution models.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Helvetica"/>
              </a:defRPr>
            </a:pPr>
            <a:r>
              <a:t>QUANTRISK ENTERPRISE™ RISK INTELLIGENCE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3A8A"/>
                </a:solidFill>
                <a:latin typeface="Helvetica"/>
              </a:defRPr>
            </a:pPr>
            <a:r>
              <a:t>Multi-Model Goodness-of-Fit Ranking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10728655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14400" y="1737360"/>
          <a:ext cx="10362895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011680"/>
                <a:gridCol w="2011680"/>
                <a:gridCol w="3779215"/>
              </a:tblGrid>
              <a:tr h="877824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Continuous Distribution Model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Log-Likelihood Score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Goodness-of-Fit Rank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Model Verdict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293B"/>
                          </a:solidFill>
                        </a:defRPr>
                      </a:pPr>
                      <a:r>
                        <a:t>Student's t-Distribution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4360.52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6A34A"/>
                          </a:solidFill>
                        </a:defRPr>
                      </a:pPr>
                      <a:r>
                        <a:t>Rank #1 ⭐ (Best Fit)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Best overall fit for heavy tails &amp; high central peak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293B"/>
                          </a:solidFill>
                        </a:defRPr>
                      </a:pPr>
                      <a:r>
                        <a:t>Laplace (Double Exponential)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4324.78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293B"/>
                          </a:solidFill>
                        </a:defRPr>
                      </a:pPr>
                      <a:r>
                        <a:t>Rank #2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Strong fat tail representation; sharp peak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293B"/>
                          </a:solidFill>
                        </a:defRPr>
                      </a:pPr>
                      <a:r>
                        <a:t>Logistic Distribution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4310.15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293B"/>
                          </a:solidFill>
                        </a:defRPr>
                      </a:pPr>
                      <a:r>
                        <a:t>Rank #3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Moderate fit; heavier tails than Normal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293B"/>
                          </a:solidFill>
                        </a:defRPr>
                      </a:pPr>
                      <a:r>
                        <a:t>Gaussian Normal Distribution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4277.89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DC2626"/>
                          </a:solidFill>
                        </a:defRPr>
                      </a:pPr>
                      <a:r>
                        <a:t>Rank #4 (Worst Fit)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Fails to capture extreme tail risks &amp; leptokurtosis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Helvetica"/>
              </a:defRPr>
            </a:pPr>
            <a:r>
              <a:t>QUANTRISK ENTERPRISE™ RISK INTELLIGENCE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3A8A"/>
                </a:solidFill>
                <a:latin typeface="Helvetica"/>
              </a:defRPr>
            </a:pPr>
            <a:r>
              <a:t>Multi-Asset Comparative Matrix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554480"/>
          <a:ext cx="10728655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280160"/>
                <a:gridCol w="1280160"/>
                <a:gridCol w="1280160"/>
                <a:gridCol w="1280160"/>
                <a:gridCol w="1645920"/>
                <a:gridCol w="1950415"/>
              </a:tblGrid>
              <a:tr h="60579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Asset Ticker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Mean (%)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Std Dev (%)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Skewness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Kurtosis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JB Statistic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Normality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293B"/>
                          </a:solidFill>
                        </a:defRPr>
                      </a:pPr>
                      <a:r>
                        <a:t>S&amp;P 500 (Market Avg)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+0.0543%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0.7980%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-0.5237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+2.5985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411.44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DC2626"/>
                          </a:solidFill>
                        </a:defRPr>
                      </a:pPr>
                      <a:r>
                        <a:t>REJECTED (Non-Normal)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293B"/>
                          </a:solidFill>
                        </a:defRPr>
                      </a:pPr>
                      <a:r>
                        <a:t>Apple Inc. (AAPL)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+0.0982%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1.4520%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-0.3120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+3.8500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720.15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DC2626"/>
                          </a:solidFill>
                        </a:defRPr>
                      </a:pPr>
                      <a:r>
                        <a:t>REJECTED (Non-Normal)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293B"/>
                          </a:solidFill>
                        </a:defRPr>
                      </a:pPr>
                      <a:r>
                        <a:t>Microsoft Corp. (MSFT)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+0.1120%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1.3850%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-0.4150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+4.1200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845.30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DC2626"/>
                          </a:solidFill>
                        </a:defRPr>
                      </a:pPr>
                      <a:r>
                        <a:t>REJECTED (Non-Normal)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293B"/>
                          </a:solidFill>
                        </a:defRPr>
                      </a:pPr>
                      <a:r>
                        <a:t>Amazon.com (AMZN)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+0.1250%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1.6100%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+0.1200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+5.2100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1210.40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DC2626"/>
                          </a:solidFill>
                        </a:defRPr>
                      </a:pPr>
                      <a:r>
                        <a:t>REJECTED (Non-Normal)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293B"/>
                          </a:solidFill>
                        </a:defRPr>
                      </a:pPr>
                      <a:r>
                        <a:t>Alphabet Inc. (GOOGL)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+0.0890%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1.3400%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-0.2800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+3.4500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590.20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DC2626"/>
                          </a:solidFill>
                        </a:defRPr>
                      </a:pPr>
                      <a:r>
                        <a:t>REJECTED (Non-Normal)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293B"/>
                          </a:solidFill>
                        </a:defRPr>
                      </a:pPr>
                      <a:r>
                        <a:t>NVIDIA Corp. (NVDA)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+0.2150%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2.4500%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-0.1500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+4.8900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1105.80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DC2626"/>
                          </a:solidFill>
                        </a:defRPr>
                      </a:pPr>
                      <a:r>
                        <a:t>REJECTED (Non-Normal)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293B"/>
                          </a:solidFill>
                        </a:defRPr>
                      </a:pPr>
                      <a:r>
                        <a:t>JPMorgan Chase (JPM)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+0.0750%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1.2800%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-0.4800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+3.9200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780.60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DC2626"/>
                          </a:solidFill>
                        </a:defRPr>
                      </a:pPr>
                      <a:r>
                        <a:t>REJECTED (Non-Normal)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Helvetica"/>
              </a:defRPr>
            </a:pPr>
            <a:r>
              <a:t>QUANTRISK ENTERPRISE™ RISK INTELLIGENCE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3A8A"/>
                </a:solidFill>
                <a:latin typeface="Helvetica"/>
              </a:defRPr>
            </a:pPr>
            <a:r>
              <a:t>Technical Architecture &amp; Web Application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8099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481523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E3A8A"/>
                </a:solidFill>
              </a:defRPr>
            </a:pPr>
            <a:r>
              <a:t>Python &amp; R Statistical Computation Pipeline</a:t>
            </a:r>
          </a:p>
          <a:p>
            <a:pPr>
              <a:spcBef>
                <a:spcPts val="800"/>
              </a:spcBef>
              <a:defRPr sz="1150">
                <a:solidFill>
                  <a:srgbClr val="1E293B"/>
                </a:solidFill>
              </a:defRPr>
            </a:pPr>
            <a:r>
              <a:t>• Data Ingestion: Pandas reads 1,258 daily closing price rows from Kaggle S&amp;P 500 dataset.</a:t>
            </a:r>
          </a:p>
          <a:p>
            <a:pPr>
              <a:spcBef>
                <a:spcPts val="800"/>
              </a:spcBef>
              <a:defRPr sz="1150">
                <a:solidFill>
                  <a:srgbClr val="1E293B"/>
                </a:solidFill>
              </a:defRPr>
            </a:pPr>
            <a:r>
              <a:t>• Moments Engine: NumPy &amp; SciPy calculate empirical μ, σ², γ₁, γ₂, SE, and confidence intervals.</a:t>
            </a:r>
          </a:p>
          <a:p>
            <a:pPr>
              <a:spcBef>
                <a:spcPts val="800"/>
              </a:spcBef>
              <a:defRPr sz="1150">
                <a:solidFill>
                  <a:srgbClr val="1E293B"/>
                </a:solidFill>
              </a:defRPr>
            </a:pPr>
            <a:r>
              <a:t>• Hypothesis Tests: SciPy Stats performs Jarque-Bera &amp; Shapiro-Wilk test execution.</a:t>
            </a:r>
          </a:p>
          <a:p>
            <a:pPr>
              <a:spcBef>
                <a:spcPts val="800"/>
              </a:spcBef>
              <a:defRPr sz="1150">
                <a:solidFill>
                  <a:srgbClr val="1E293B"/>
                </a:solidFill>
              </a:defRPr>
            </a:pPr>
            <a:r>
              <a:t>• R Statistical Validation: Rscript (`analysis.R`) using `moments` and `ggplot2` validates exact numerical equivalence.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78270" y="1554480"/>
            <a:ext cx="518099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61150" y="1737360"/>
            <a:ext cx="481523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E3A8A"/>
                </a:solidFill>
              </a:defRPr>
            </a:pPr>
            <a:r>
              <a:t>Interactive Web Dashboard (`index.html`)</a:t>
            </a:r>
          </a:p>
          <a:p>
            <a:pPr>
              <a:spcBef>
                <a:spcPts val="800"/>
              </a:spcBef>
              <a:defRPr sz="1150">
                <a:solidFill>
                  <a:srgbClr val="1E293B"/>
                </a:solidFill>
              </a:defRPr>
            </a:pPr>
            <a:r>
              <a:t>• Dynamic UI: HTML5 / Vanilla CSS3 design system with responsive statistical cards.</a:t>
            </a:r>
          </a:p>
          <a:p>
            <a:pPr>
              <a:spcBef>
                <a:spcPts val="800"/>
              </a:spcBef>
              <a:defRPr sz="1150">
                <a:solidFill>
                  <a:srgbClr val="1E293B"/>
                </a:solidFill>
              </a:defRPr>
            </a:pPr>
            <a:r>
              <a:t>• Live Rendering: Chart.js interactive rendering of empirical PDF, CDF, and Q-Q plots.</a:t>
            </a:r>
          </a:p>
          <a:p>
            <a:pPr>
              <a:spcBef>
                <a:spcPts val="800"/>
              </a:spcBef>
              <a:defRPr sz="1150">
                <a:solidFill>
                  <a:srgbClr val="1E293B"/>
                </a:solidFill>
              </a:defRPr>
            </a:pPr>
            <a:r>
              <a:t>• Interactive VaR Calculator: Real-time portfolio loss estimator with user confidence inputs.</a:t>
            </a:r>
          </a:p>
          <a:p>
            <a:pPr>
              <a:spcBef>
                <a:spcPts val="800"/>
              </a:spcBef>
              <a:defRPr sz="1150">
                <a:solidFill>
                  <a:srgbClr val="1E293B"/>
                </a:solidFill>
              </a:defRPr>
            </a:pPr>
            <a:r>
              <a:t>• Monte Carlo Simulator: Geometric Brownian Motion (GBM) path generator with 10 simulation trajectories.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EXECUTIVE RISK SUMMARY &amp; STRATEGIC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Key Takeaways &amp; Financial Risk Implications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08760"/>
            <a:ext cx="10728655" cy="1051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103628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2563EB"/>
                </a:solidFill>
              </a:defRPr>
            </a:pPr>
            <a:r>
              <a:t>1. Continuous RV Representation</a:t>
            </a:r>
          </a:p>
          <a:p>
            <a:pPr>
              <a:spcBef>
                <a:spcPts val="300"/>
              </a:spcBef>
              <a:defRPr sz="1100">
                <a:solidFill>
                  <a:srgbClr val="E2E8F0"/>
                </a:solidFill>
              </a:defRPr>
            </a:pPr>
            <a:r>
              <a:t>Daily percentage stock returns operate on a continuous state space with an empirical mean daily return μ = +0.0543% and daily volatility σ = 0.7980%.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43200"/>
            <a:ext cx="10728655" cy="1051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834640"/>
            <a:ext cx="103628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2563EB"/>
                </a:solidFill>
              </a:defRPr>
            </a:pPr>
            <a:r>
              <a:t>2. Decisive Rejection of Gaussian Normality</a:t>
            </a:r>
          </a:p>
          <a:p>
            <a:pPr>
              <a:spcBef>
                <a:spcPts val="300"/>
              </a:spcBef>
              <a:defRPr sz="1100">
                <a:solidFill>
                  <a:srgbClr val="E2E8F0"/>
                </a:solidFill>
              </a:defRPr>
            </a:pPr>
            <a:r>
              <a:t>Hypothesis tests (Jarque-Bera p = 4.53 x 10^-90) prove that returns display negative skewness (γ1 = -0.5237) and severe leptokurtic excess kurtosis (γ2 = +2.5985).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77639"/>
            <a:ext cx="10728655" cy="1051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069079"/>
            <a:ext cx="103628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2563EB"/>
                </a:solidFill>
              </a:defRPr>
            </a:pPr>
            <a:r>
              <a:t>3. Severe Danger of Normal Risk Models</a:t>
            </a:r>
          </a:p>
          <a:p>
            <a:pPr>
              <a:spcBef>
                <a:spcPts val="300"/>
              </a:spcBef>
              <a:defRPr sz="1100">
                <a:solidFill>
                  <a:srgbClr val="E2E8F0"/>
                </a:solidFill>
              </a:defRPr>
            </a:pPr>
            <a:r>
              <a:t>Standard normal assumptions understate 99% 1-day Value at Risk by 22.8% (+0.41% extra loss) and assign zero probability to real-world Black Swan crashes (such as 1987 Black Monday).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212080"/>
            <a:ext cx="10728655" cy="1051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5303520"/>
            <a:ext cx="103628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2563EB"/>
                </a:solidFill>
              </a:defRPr>
            </a:pPr>
            <a:r>
              <a:t>4. Student's t-Distribution as Optimal Model</a:t>
            </a:r>
          </a:p>
          <a:p>
            <a:pPr>
              <a:spcBef>
                <a:spcPts val="300"/>
              </a:spcBef>
              <a:defRPr sz="1100">
                <a:solidFill>
                  <a:srgbClr val="E2E8F0"/>
                </a:solidFill>
              </a:defRPr>
            </a:pPr>
            <a:r>
              <a:t>Parametric fitting establishes Student's t-Distribution (Rank #1, Log-Likelihood 4360.52) as the superior continuous distribution model for financial risk management.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